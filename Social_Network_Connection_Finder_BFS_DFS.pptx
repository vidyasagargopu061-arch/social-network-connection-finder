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7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2480" y="195653"/>
            <a:ext cx="9866811" cy="5565068"/>
          </a:xfrm>
          <a:prstGeom prst="roundRect">
            <a:avLst/>
          </a:prstGeom>
          <a:solidFill>
            <a:srgbClr val="1E2634"/>
          </a:solidFill>
          <a:ln w="25400">
            <a:solidFill>
              <a:srgbClr val="3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-844973" y="195652"/>
            <a:ext cx="1163489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8FAFC"/>
                </a:solidFill>
              </a:defRPr>
            </a:pPr>
            <a:r>
              <a:rPr dirty="0"/>
              <a:t>SOCIAL NETWORK</a:t>
            </a:r>
            <a:br>
              <a:rPr dirty="0"/>
            </a:br>
            <a:r>
              <a:rPr dirty="0"/>
              <a:t>CONNECTION FINDER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86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30C8DC"/>
                </a:solidFill>
              </a:defRPr>
            </a:pPr>
            <a:r>
              <a:rPr dirty="0"/>
              <a:t>BFS • DFS • Graph Traversal • Minimum-HOP 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40525" y="2830286"/>
            <a:ext cx="93791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8EEF7"/>
                </a:solidFill>
              </a:defRPr>
            </a:pPr>
            <a:r>
              <a:rPr lang="en-US" dirty="0">
                <a:solidFill>
                  <a:schemeClr val="accent5"/>
                </a:solidFill>
              </a:rPr>
              <a:t>TEAM MEMBERS:</a:t>
            </a:r>
          </a:p>
          <a:p>
            <a:pPr algn="ctr">
              <a:defRPr sz="1800">
                <a:solidFill>
                  <a:srgbClr val="E8EEF7"/>
                </a:solidFill>
              </a:defRPr>
            </a:pPr>
            <a:r>
              <a:rPr lang="en-US" dirty="0">
                <a:solidFill>
                  <a:schemeClr val="accent5"/>
                </a:solidFill>
              </a:rPr>
              <a:t>                                                               =&gt; B JASWANTH(25MVCSMR0103)</a:t>
            </a:r>
          </a:p>
          <a:p>
            <a:pPr algn="ctr">
              <a:defRPr sz="1800">
                <a:solidFill>
                  <a:srgbClr val="E8EEF7"/>
                </a:solidFill>
              </a:defRPr>
            </a:pPr>
            <a:r>
              <a:rPr lang="en-US" dirty="0">
                <a:solidFill>
                  <a:schemeClr val="accent5"/>
                </a:solidFill>
              </a:rPr>
              <a:t>                                                           =&gt; B ESHWAR(25MVCSMR0105)</a:t>
            </a:r>
          </a:p>
          <a:p>
            <a:pPr algn="ctr">
              <a:defRPr sz="1800">
                <a:solidFill>
                  <a:srgbClr val="E8EEF7"/>
                </a:solidFill>
              </a:defRPr>
            </a:pPr>
            <a:r>
              <a:rPr lang="en-US" dirty="0">
                <a:solidFill>
                  <a:schemeClr val="accent5"/>
                </a:solidFill>
              </a:rPr>
              <a:t>                                                                   =&gt; G VIDYASAGAR(25MVCSMR0119)</a:t>
            </a:r>
          </a:p>
          <a:p>
            <a:pPr algn="ctr">
              <a:defRPr sz="1800">
                <a:solidFill>
                  <a:srgbClr val="E8EEF7"/>
                </a:solidFill>
              </a:defRPr>
            </a:pPr>
            <a:r>
              <a:rPr lang="en-US" dirty="0">
                <a:solidFill>
                  <a:schemeClr val="accent5"/>
                </a:solidFill>
              </a:rPr>
              <a:t>                                                        =&gt; V.RAHUL(25MVCSMR0182)  </a:t>
            </a:r>
          </a:p>
          <a:p>
            <a:pPr algn="ctr">
              <a:defRPr sz="1800">
                <a:solidFill>
                  <a:srgbClr val="E8EEF7"/>
                </a:solidFill>
              </a:defRPr>
            </a:pPr>
            <a:endParaRPr lang="en-US" dirty="0"/>
          </a:p>
          <a:p>
            <a:pPr algn="ctr">
              <a:defRPr sz="1800">
                <a:solidFill>
                  <a:srgbClr val="E8EEF7"/>
                </a:solidFill>
              </a:defRPr>
            </a:pPr>
            <a:endParaRPr lang="en-US" dirty="0"/>
          </a:p>
          <a:p>
            <a:pPr algn="ctr">
              <a:defRPr sz="1800">
                <a:solidFill>
                  <a:srgbClr val="E8EEF7"/>
                </a:solidFill>
              </a:defRPr>
            </a:pPr>
            <a:r>
              <a:rPr lang="en-US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3FEA3-D762-2BE7-86CE-ACCE634D5BDF}"/>
              </a:ext>
            </a:extLst>
          </p:cNvPr>
          <p:cNvSpPr txBox="1"/>
          <p:nvPr/>
        </p:nvSpPr>
        <p:spPr>
          <a:xfrm>
            <a:off x="3783874" y="2148983"/>
            <a:ext cx="3230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DAA PROJECT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Finding how users are connected in a social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</a:defRPr>
            </a:pPr>
            <a:r>
              <a:t>• Represent users as vertices (nodes) and friendships/follows as edges.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</a:defRPr>
            </a:pPr>
            <a:r>
              <a:t>• Find the degree of connection: the number of hops between two users.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</a:defRPr>
            </a:pPr>
            <a:r>
              <a:t>• Suggest possible connection paths between a source user and a target user.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</a:defRPr>
            </a:pPr>
            <a:r>
              <a:t>• Visualize direct and indirect relationships so the algorithm’s decisions are understandable.</a:t>
            </a:r>
          </a:p>
          <a:p>
            <a:pPr>
              <a:spcAft>
                <a:spcPts val="1300"/>
              </a:spcAft>
              <a:defRPr sz="1900">
                <a:solidFill>
                  <a:srgbClr val="F8FAFC"/>
                </a:solidFill>
              </a:defRPr>
            </a:pPr>
            <a:r>
              <a:t>• Use BFS for minimum-hop paths and DFS for deep exploration and structural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2. Graph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Social network modeled as an undirected graph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243584" y="1609343"/>
            <a:ext cx="2011680" cy="731521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43584" y="2340864"/>
            <a:ext cx="2103119" cy="914400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55264" y="1609343"/>
            <a:ext cx="2103120" cy="91441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46703" y="3255264"/>
            <a:ext cx="2194561" cy="91439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58384" y="1700784"/>
            <a:ext cx="2285999" cy="822960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541264" y="2523744"/>
            <a:ext cx="2103119" cy="822959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55264" y="1609343"/>
            <a:ext cx="2286000" cy="1737360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14400" y="2011680"/>
            <a:ext cx="658368" cy="658368"/>
          </a:xfrm>
          <a:prstGeom prst="ellipse">
            <a:avLst/>
          </a:prstGeom>
          <a:solidFill>
            <a:srgbClr val="2DB47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2926080" y="128016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292608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0" y="137160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0" y="301752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0" y="2194560"/>
            <a:ext cx="658368" cy="658368"/>
          </a:xfrm>
          <a:prstGeom prst="ellipse">
            <a:avLst/>
          </a:prstGeom>
          <a:solidFill>
            <a:srgbClr val="F59B37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1417320"/>
            <a:ext cx="2834640" cy="4023360"/>
          </a:xfrm>
          <a:prstGeom prst="roundRect">
            <a:avLst/>
          </a:prstGeom>
          <a:solidFill>
            <a:srgbClr val="1E2634"/>
          </a:solidFill>
          <a:ln>
            <a:solidFill>
              <a:srgbClr val="3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1691640"/>
            <a:ext cx="22860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8FAFC"/>
                </a:solidFill>
              </a:defRPr>
            </a:pPr>
            <a:r>
              <a:t>A–F example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A = Source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F = Target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Adjacency list: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A: B, C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B: A, D, E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C: A, E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D: B, F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E: C, B, F</a:t>
            </a:r>
          </a:p>
          <a:p>
            <a:pPr>
              <a:spcAft>
                <a:spcPts val="500"/>
              </a:spcAft>
              <a:defRPr sz="1500" b="0">
                <a:solidFill>
                  <a:srgbClr val="F8FAFC"/>
                </a:solidFill>
              </a:defRPr>
            </a:pPr>
            <a:r>
              <a:t>F: D,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3. Breadth-First Search (BFS)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Explore level by level — ideal for minimum-hop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Start from the source user and place it in a queue.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Visit all immediate connections before moving to the next level.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Mark each visited user and store its parent.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When the target is reached, follow parent links backward to reconstruct the path.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For an unweighted graph, BFS gives a shortest path in number of edges.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7"/>
                </a:solidFill>
              </a:defRPr>
            </a:pPr>
            <a:r>
              <a:t>Level 0</a:t>
            </a:r>
          </a:p>
        </p:txBody>
      </p:sp>
      <p:sp>
        <p:nvSpPr>
          <p:cNvPr id="9" name="Oval 8"/>
          <p:cNvSpPr/>
          <p:nvPr/>
        </p:nvSpPr>
        <p:spPr>
          <a:xfrm>
            <a:off x="8549640" y="1490472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7"/>
                </a:solidFill>
              </a:defRPr>
            </a:pPr>
            <a:r>
              <a:t>Level 1</a:t>
            </a:r>
          </a:p>
        </p:txBody>
      </p:sp>
      <p:sp>
        <p:nvSpPr>
          <p:cNvPr id="11" name="Oval 10"/>
          <p:cNvSpPr/>
          <p:nvPr/>
        </p:nvSpPr>
        <p:spPr>
          <a:xfrm>
            <a:off x="8549640" y="2450591"/>
            <a:ext cx="658368" cy="658368"/>
          </a:xfrm>
          <a:prstGeom prst="ellipse">
            <a:avLst/>
          </a:prstGeom>
          <a:solidFill>
            <a:srgbClr val="30C8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9372600" y="2450591"/>
            <a:ext cx="658368" cy="658368"/>
          </a:xfrm>
          <a:prstGeom prst="ellipse">
            <a:avLst/>
          </a:prstGeom>
          <a:solidFill>
            <a:srgbClr val="30C8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5204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7"/>
                </a:solidFill>
              </a:defRPr>
            </a:pPr>
            <a:r>
              <a:t>Level 2</a:t>
            </a:r>
          </a:p>
        </p:txBody>
      </p:sp>
      <p:sp>
        <p:nvSpPr>
          <p:cNvPr id="14" name="Oval 13"/>
          <p:cNvSpPr/>
          <p:nvPr/>
        </p:nvSpPr>
        <p:spPr>
          <a:xfrm>
            <a:off x="8549640" y="3410712"/>
            <a:ext cx="658368" cy="658368"/>
          </a:xfrm>
          <a:prstGeom prst="ellipse">
            <a:avLst/>
          </a:prstGeom>
          <a:solidFill>
            <a:srgbClr val="F59B37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D</a:t>
            </a:r>
          </a:p>
        </p:txBody>
      </p:sp>
      <p:sp>
        <p:nvSpPr>
          <p:cNvPr id="15" name="Oval 14"/>
          <p:cNvSpPr/>
          <p:nvPr/>
        </p:nvSpPr>
        <p:spPr>
          <a:xfrm>
            <a:off x="9372600" y="3410712"/>
            <a:ext cx="658368" cy="658368"/>
          </a:xfrm>
          <a:prstGeom prst="ellipse">
            <a:avLst/>
          </a:prstGeom>
          <a:solidFill>
            <a:srgbClr val="F59B37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4805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8EEF7"/>
                </a:solidFill>
              </a:defRPr>
            </a:pPr>
            <a:r>
              <a:t>Level 3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4370832"/>
            <a:ext cx="658368" cy="658368"/>
          </a:xfrm>
          <a:prstGeom prst="ellipse">
            <a:avLst/>
          </a:prstGeom>
          <a:solidFill>
            <a:srgbClr val="2DB47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4. Depth-First Search (DFS)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Explore deeply before backtracking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Start at the source and follow one branch as far as possible.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Use recursion or an explicit stack to manage exploration.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Backtrack when no unvisited neighbor remains.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Useful for reachability, connected components, cycle detection and structural analysis.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DFS does not necessarily return the minimum-hop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1828800" cy="502920"/>
          </a:xfrm>
          <a:prstGeom prst="roundRect">
            <a:avLst/>
          </a:prstGeom>
          <a:solidFill>
            <a:srgbClr val="2DB47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Stack: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487168"/>
            <a:ext cx="1828800" cy="502920"/>
          </a:xfrm>
          <a:prstGeom prst="roundRect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Stack: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145536"/>
            <a:ext cx="1828800" cy="502920"/>
          </a:xfrm>
          <a:prstGeom prst="roundRect">
            <a:avLst/>
          </a:prstGeom>
          <a:solidFill>
            <a:srgbClr val="30C8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Stack: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803904"/>
            <a:ext cx="1828800" cy="502920"/>
          </a:xfrm>
          <a:prstGeom prst="roundRect">
            <a:avLst/>
          </a:prstGeom>
          <a:solidFill>
            <a:srgbClr val="F59B37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Stack: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5. Worked Example: Minimum-HOP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Find a path from A to F using BFS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243584" y="1655064"/>
            <a:ext cx="1828800" cy="868680"/>
          </a:xfrm>
          <a:prstGeom prst="line">
            <a:avLst/>
          </a:prstGeom>
          <a:ln w="50800">
            <a:solidFill>
              <a:srgbClr val="F59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43584" y="2523744"/>
            <a:ext cx="1828800" cy="868680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72384" y="1655064"/>
            <a:ext cx="1828800" cy="0"/>
          </a:xfrm>
          <a:prstGeom prst="line">
            <a:avLst/>
          </a:prstGeom>
          <a:ln w="50800">
            <a:solidFill>
              <a:srgbClr val="F59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72384" y="3392424"/>
            <a:ext cx="1828800" cy="0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01184" y="1655064"/>
            <a:ext cx="2011680" cy="868680"/>
          </a:xfrm>
          <a:prstGeom prst="line">
            <a:avLst/>
          </a:prstGeom>
          <a:ln w="50800">
            <a:solidFill>
              <a:srgbClr val="F59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901184" y="2523744"/>
            <a:ext cx="2011680" cy="868680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72384" y="1655064"/>
            <a:ext cx="1828800" cy="1737360"/>
          </a:xfrm>
          <a:prstGeom prst="line">
            <a:avLst/>
          </a:prstGeom>
          <a:ln w="25400">
            <a:solidFill>
              <a:srgbClr val="6974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14400" y="2194560"/>
            <a:ext cx="658368" cy="658368"/>
          </a:xfrm>
          <a:prstGeom prst="ellipse">
            <a:avLst/>
          </a:prstGeom>
          <a:solidFill>
            <a:srgbClr val="2DB47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132588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2743200" y="306324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132588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D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063240"/>
            <a:ext cx="658368" cy="658368"/>
          </a:xfrm>
          <a:prstGeom prst="ellipse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E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194560"/>
            <a:ext cx="658368" cy="658368"/>
          </a:xfrm>
          <a:prstGeom prst="ellipse">
            <a:avLst/>
          </a:prstGeom>
          <a:solidFill>
            <a:srgbClr val="F59B37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417320"/>
            <a:ext cx="3383280" cy="4297680"/>
          </a:xfrm>
          <a:prstGeom prst="roundRect">
            <a:avLst/>
          </a:prstGeom>
          <a:solidFill>
            <a:srgbClr val="1E2634"/>
          </a:solidFill>
          <a:ln>
            <a:solidFill>
              <a:srgbClr val="2D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1737360"/>
            <a:ext cx="28346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8FAFC"/>
                </a:solidFill>
              </a:defRPr>
            </a:pPr>
            <a:r>
              <a:t>BFS visit levels</a:t>
            </a:r>
          </a:p>
          <a:p>
            <a:pPr>
              <a:spcAft>
                <a:spcPts val="500"/>
              </a:spcAft>
              <a:defRPr sz="1600" b="0">
                <a:solidFill>
                  <a:srgbClr val="F8FAFC"/>
                </a:solidFill>
              </a:defRPr>
            </a:pPr>
            <a:r>
              <a:t>Level 0: A</a:t>
            </a:r>
          </a:p>
          <a:p>
            <a:pPr>
              <a:spcAft>
                <a:spcPts val="500"/>
              </a:spcAft>
              <a:defRPr sz="1600" b="0">
                <a:solidFill>
                  <a:srgbClr val="F8FAFC"/>
                </a:solidFill>
              </a:defRPr>
            </a:pPr>
            <a:r>
              <a:t>Level 1: B, C</a:t>
            </a:r>
          </a:p>
          <a:p>
            <a:pPr>
              <a:spcAft>
                <a:spcPts val="500"/>
              </a:spcAft>
              <a:defRPr sz="1600" b="0">
                <a:solidFill>
                  <a:srgbClr val="F8FAFC"/>
                </a:solidFill>
              </a:defRPr>
            </a:pPr>
            <a:r>
              <a:t>Level 2: D, E</a:t>
            </a:r>
          </a:p>
          <a:p>
            <a:pPr>
              <a:spcAft>
                <a:spcPts val="500"/>
              </a:spcAft>
              <a:defRPr sz="1600" b="0">
                <a:solidFill>
                  <a:srgbClr val="F8FAFC"/>
                </a:solidFill>
              </a:defRPr>
            </a:pPr>
            <a:r>
              <a:t>Level 3: F</a:t>
            </a:r>
          </a:p>
          <a:p>
            <a:pPr>
              <a:spcAft>
                <a:spcPts val="500"/>
              </a:spcAft>
              <a:defRPr sz="1600" b="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</a:defRPr>
            </a:pPr>
            <a:r>
              <a:t>Shortest path:</a:t>
            </a:r>
          </a:p>
          <a:p>
            <a:pPr>
              <a:spcAft>
                <a:spcPts val="500"/>
              </a:spcAft>
              <a:defRPr sz="1600" b="0">
                <a:solidFill>
                  <a:srgbClr val="F8FAFC"/>
                </a:solidFill>
              </a:defRPr>
            </a:pPr>
            <a:r>
              <a:t>A → B → D → F</a:t>
            </a:r>
          </a:p>
          <a:p>
            <a:pPr>
              <a:spcAft>
                <a:spcPts val="500"/>
              </a:spcAft>
              <a:defRPr sz="1600" b="0">
                <a:solidFill>
                  <a:srgbClr val="F8FAFC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 b="1">
                <a:solidFill>
                  <a:srgbClr val="F8FAFC"/>
                </a:solidFill>
              </a:defRPr>
            </a:pPr>
            <a:r>
              <a:t>Degree = 3 hops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6. BFS vs 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Same graph, different exploration behavior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926080" cy="658368"/>
          </a:xfrm>
          <a:prstGeom prst="rect">
            <a:avLst/>
          </a:prstGeom>
          <a:solidFill>
            <a:srgbClr val="7850DC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63040"/>
            <a:ext cx="3657600" cy="658368"/>
          </a:xfrm>
          <a:prstGeom prst="rect">
            <a:avLst/>
          </a:prstGeom>
          <a:solidFill>
            <a:srgbClr val="377DFF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BFS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463040"/>
            <a:ext cx="3657600" cy="658368"/>
          </a:xfrm>
          <a:prstGeom prst="rect">
            <a:avLst/>
          </a:prstGeom>
          <a:solidFill>
            <a:srgbClr val="30C8DC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DFS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21408"/>
            <a:ext cx="292608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Main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121408"/>
            <a:ext cx="365760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Queue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121408"/>
            <a:ext cx="365760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Stack / Recursion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79776"/>
            <a:ext cx="2926080" cy="658368"/>
          </a:xfrm>
          <a:prstGeom prst="rect">
            <a:avLst/>
          </a:prstGeom>
          <a:solidFill>
            <a:srgbClr val="2B374B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Exploration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779776"/>
            <a:ext cx="3657600" cy="658368"/>
          </a:xfrm>
          <a:prstGeom prst="rect">
            <a:avLst/>
          </a:prstGeom>
          <a:solidFill>
            <a:srgbClr val="2B374B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Level by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779776"/>
            <a:ext cx="3657600" cy="658368"/>
          </a:xfrm>
          <a:prstGeom prst="rect">
            <a:avLst/>
          </a:prstGeom>
          <a:solidFill>
            <a:srgbClr val="2B374B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Depth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438144"/>
            <a:ext cx="292608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Shortest unweighted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438144"/>
            <a:ext cx="365760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438144"/>
            <a:ext cx="365760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Not guaranteed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96512"/>
            <a:ext cx="2926080" cy="658368"/>
          </a:xfrm>
          <a:prstGeom prst="rect">
            <a:avLst/>
          </a:prstGeom>
          <a:solidFill>
            <a:srgbClr val="2B374B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Typical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4096512"/>
            <a:ext cx="3657600" cy="658368"/>
          </a:xfrm>
          <a:prstGeom prst="rect">
            <a:avLst/>
          </a:prstGeom>
          <a:solidFill>
            <a:srgbClr val="2B374B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Minimum hops, reachability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096512"/>
            <a:ext cx="3657600" cy="658368"/>
          </a:xfrm>
          <a:prstGeom prst="rect">
            <a:avLst/>
          </a:prstGeom>
          <a:solidFill>
            <a:srgbClr val="2B374B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Components, cycles,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79"/>
            <a:ext cx="292608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Time complexity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4754879"/>
            <a:ext cx="365760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O(V + 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4754879"/>
            <a:ext cx="3657600" cy="658368"/>
          </a:xfrm>
          <a:prstGeom prst="rect">
            <a:avLst/>
          </a:prstGeom>
          <a:solidFill>
            <a:srgbClr val="1E2634"/>
          </a:solidFill>
          <a:ln>
            <a:solidFill>
              <a:srgbClr val="E8E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F8FAFC"/>
                </a:solidFill>
              </a:defRPr>
            </a:pPr>
            <a:r>
              <a:t>O(V + 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7.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Suggested technologies for the prototype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011680" cy="1828800"/>
          </a:xfrm>
          <a:prstGeom prst="roundRect">
            <a:avLst/>
          </a:prstGeom>
          <a:solidFill>
            <a:srgbClr val="377DFF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8FAFC"/>
                </a:solidFill>
              </a:defRPr>
            </a:pPr>
            <a:r>
              <a:t>React</a:t>
            </a:r>
          </a:p>
          <a:p>
            <a:pPr algn="ctr">
              <a:defRPr sz="1300">
                <a:solidFill>
                  <a:srgbClr val="F8FAFC"/>
                </a:solidFill>
              </a:defRPr>
            </a:pPr>
            <a:r>
              <a:t>User interface</a:t>
            </a:r>
            <a:br/>
            <a:r>
              <a:t>Graph +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011680" cy="1828800"/>
          </a:xfrm>
          <a:prstGeom prst="roundRect">
            <a:avLst/>
          </a:prstGeom>
          <a:solidFill>
            <a:srgbClr val="7850D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8FAFC"/>
                </a:solidFill>
              </a:defRPr>
            </a:pPr>
            <a:r>
              <a:t>Flask</a:t>
            </a:r>
          </a:p>
          <a:p>
            <a:pPr algn="ctr">
              <a:defRPr sz="1300">
                <a:solidFill>
                  <a:srgbClr val="F8FAFC"/>
                </a:solidFill>
              </a:defRPr>
            </a:pPr>
            <a:r>
              <a:t>REST API</a:t>
            </a:r>
            <a:br/>
            <a:r>
              <a:t>Algorithm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011680" cy="1828800"/>
          </a:xfrm>
          <a:prstGeom prst="roundRect">
            <a:avLst/>
          </a:prstGeom>
          <a:solidFill>
            <a:srgbClr val="2DB478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8FAFC"/>
                </a:solidFill>
              </a:defRPr>
            </a:pPr>
            <a:r>
              <a:t>Python</a:t>
            </a:r>
          </a:p>
          <a:p>
            <a:pPr algn="ctr">
              <a:defRPr sz="1300">
                <a:solidFill>
                  <a:srgbClr val="F8FAFC"/>
                </a:solidFill>
              </a:defRPr>
            </a:pPr>
            <a:r>
              <a:t>BFS / DFS</a:t>
            </a:r>
            <a:br/>
            <a:r>
              <a:t>Path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2011680" cy="1828800"/>
          </a:xfrm>
          <a:prstGeom prst="roundRect">
            <a:avLst/>
          </a:prstGeom>
          <a:solidFill>
            <a:srgbClr val="F59B37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8FAFC"/>
                </a:solidFill>
              </a:defRPr>
            </a:pPr>
            <a:r>
              <a:t>Neo4j</a:t>
            </a:r>
          </a:p>
          <a:p>
            <a:pPr algn="ctr">
              <a:defRPr sz="1300">
                <a:solidFill>
                  <a:srgbClr val="F8FAFC"/>
                </a:solidFill>
              </a:defRPr>
            </a:pPr>
            <a:r>
              <a:t>Graph database</a:t>
            </a:r>
            <a:br/>
            <a:r>
              <a:t>Users + edges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2743200"/>
            <a:ext cx="731520" cy="0"/>
          </a:xfrm>
          <a:prstGeom prst="line">
            <a:avLst/>
          </a:prstGeom>
          <a:ln w="38100">
            <a:solidFill>
              <a:srgbClr val="30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2743200"/>
            <a:ext cx="731520" cy="0"/>
          </a:xfrm>
          <a:prstGeom prst="line">
            <a:avLst/>
          </a:prstGeom>
          <a:ln w="38100">
            <a:solidFill>
              <a:srgbClr val="30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0" y="2743200"/>
            <a:ext cx="731520" cy="0"/>
          </a:xfrm>
          <a:prstGeom prst="line">
            <a:avLst/>
          </a:prstGeom>
          <a:ln w="38100">
            <a:solidFill>
              <a:srgbClr val="30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43891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8FAFC"/>
                </a:solidFill>
              </a:defRPr>
            </a:pPr>
            <a:r>
              <a:t>User selects Source + Target  →  Flask API  →  BFS/DFS  →  Path + Visit Order  →  React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8. User Interface &amp; Algorithm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Make the algorithm’s important decisions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Input: source user, target user and network relationships.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Controls: Run BFS, Run DFS, Reset and Show Path.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Output: connection degree, selected path, visited order and relationship type.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Visualization: direct connections can be shown separately from indirect connections.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t>• Explainability: show queue/stack states and visited nodes during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371600"/>
            <a:ext cx="365760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3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09560" y="1691640"/>
            <a:ext cx="2926080" cy="457200"/>
          </a:xfrm>
          <a:prstGeom prst="roundRect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Source: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2377440"/>
            <a:ext cx="2926080" cy="457200"/>
          </a:xfrm>
          <a:prstGeom prst="roundRect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Target: 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063240"/>
            <a:ext cx="2926080" cy="457200"/>
          </a:xfrm>
          <a:prstGeom prst="roundRect">
            <a:avLst/>
          </a:prstGeom>
          <a:solidFill>
            <a:srgbClr val="2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Run BFS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749039"/>
            <a:ext cx="2926080" cy="457200"/>
          </a:xfrm>
          <a:prstGeom prst="roundRect">
            <a:avLst/>
          </a:prstGeom>
          <a:solidFill>
            <a:srgbClr val="F59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Run DFS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5720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E2634"/>
                </a:solidFill>
              </a:defRPr>
            </a:pPr>
            <a:r>
              <a:t>Result: A → B → D → F</a:t>
            </a:r>
            <a:br/>
            <a:r>
              <a:t>Degree: 3 hops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9. Complexity, Applications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EEF7"/>
                </a:solidFill>
              </a:defRPr>
            </a:pPr>
            <a:r>
              <a:t>A practical graph-traversal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8FAFC"/>
                </a:solidFill>
              </a:defRPr>
            </a:pPr>
            <a:r>
              <a:t>• Time complexity: BFS = O(V + E), DFS = O(V + E) with adjacency-list representation.</a:t>
            </a:r>
          </a:p>
          <a:p>
            <a:pPr>
              <a:spcAft>
                <a:spcPts val="1300"/>
              </a:spcAft>
              <a:defRPr sz="1700">
                <a:solidFill>
                  <a:srgbClr val="F8FAFC"/>
                </a:solidFill>
              </a:defRPr>
            </a:pPr>
            <a:r>
              <a:t>• Space complexity: O(V) for visited/queue or visited/stack, excluding the graph storage.</a:t>
            </a:r>
          </a:p>
          <a:p>
            <a:pPr>
              <a:spcAft>
                <a:spcPts val="1300"/>
              </a:spcAft>
              <a:defRPr sz="1700">
                <a:solidFill>
                  <a:srgbClr val="F8FAFC"/>
                </a:solidFill>
              </a:defRPr>
            </a:pPr>
            <a:r>
              <a:t>• Applications: friend recommendations, professional networks, community discovery and relationship analysis.</a:t>
            </a:r>
          </a:p>
          <a:p>
            <a:pPr>
              <a:spcAft>
                <a:spcPts val="1300"/>
              </a:spcAft>
              <a:defRPr sz="1700">
                <a:solidFill>
                  <a:srgbClr val="F8FAFC"/>
                </a:solidFill>
              </a:defRPr>
            </a:pPr>
            <a:r>
              <a:t>• BFS answers “How many hops?” efficiently in an unweighted network.</a:t>
            </a:r>
          </a:p>
          <a:p>
            <a:pPr>
              <a:spcAft>
                <a:spcPts val="1300"/>
              </a:spcAft>
              <a:defRPr sz="1700">
                <a:solidFill>
                  <a:srgbClr val="F8FAFC"/>
                </a:solidFill>
              </a:defRPr>
            </a:pPr>
            <a:r>
              <a:t>• DFS helps understand graph structure and explores connected regions deeply.</a:t>
            </a:r>
          </a:p>
          <a:p>
            <a:pPr>
              <a:spcAft>
                <a:spcPts val="1300"/>
              </a:spcAft>
              <a:defRPr sz="1700">
                <a:solidFill>
                  <a:srgbClr val="F8FAFC"/>
                </a:solidFill>
              </a:defRPr>
            </a:pPr>
            <a:r>
              <a:t>• Conclusion: combining BFS + DFS creates an understandable and algorithm-centric Social Network Connection Finder.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89920" y="-365760"/>
            <a:ext cx="2011680" cy="2011680"/>
          </a:xfrm>
          <a:prstGeom prst="ellipse">
            <a:avLst/>
          </a:prstGeom>
          <a:solidFill>
            <a:srgbClr val="3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247120" y="5760720"/>
            <a:ext cx="1645920" cy="1645920"/>
          </a:xfrm>
          <a:prstGeom prst="ellipse">
            <a:avLst/>
          </a:prstGeom>
          <a:solidFill>
            <a:srgbClr val="785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371600" cy="1371600"/>
          </a:xfrm>
          <a:prstGeom prst="ellipse">
            <a:avLst/>
          </a:prstGeom>
          <a:solidFill>
            <a:srgbClr val="3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10. 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10652760" cy="2587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Weighted relationships: include interaction strength or distance and add suitable shortest-path algorithms.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Recommendation engine: suggest users who are connected through mutual friends.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Real-time graph updates using Neo4j.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Authentication and user profiles with Flask APIs.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Interactive graph animations showing BFS/DFS execution step by step.</a:t>
            </a:r>
          </a:p>
          <a:p>
            <a:pPr>
              <a:spcAft>
                <a:spcPts val="1300"/>
              </a:spcAft>
              <a:defRPr sz="1800">
                <a:solidFill>
                  <a:srgbClr val="F8FAFC"/>
                </a:solidFill>
              </a:defRPr>
            </a:pPr>
            <a:r>
              <a:rPr dirty="0"/>
              <a:t>• Analytics dashboard for communities, central users and connection statistics.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8EEF7"/>
                </a:solidFill>
              </a:defRPr>
            </a:pPr>
            <a:r>
              <a:t>Social Network Connection Finder  |  DAA Project  |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940</Words>
  <Application>Microsoft Office PowerPoint</Application>
  <PresentationFormat>Widescreen</PresentationFormat>
  <Paragraphs>152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vidyasagargopu0611@outlook.com</cp:lastModifiedBy>
  <cp:revision>4</cp:revision>
  <dcterms:created xsi:type="dcterms:W3CDTF">2013-01-27T09:14:16Z</dcterms:created>
  <dcterms:modified xsi:type="dcterms:W3CDTF">2026-10-03T06:08:45Z</dcterms:modified>
  <cp:category/>
</cp:coreProperties>
</file>